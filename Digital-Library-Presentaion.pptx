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0.xml"/><Relationship Id="rId10" Type="http://schemas.openxmlformats.org/officeDocument/2006/relationships/image" Target="../media/image29.pn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98157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EBook - Digital Library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55877"/>
            <a:ext cx="703933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Modern Web Application with Clean Architecture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850368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E-Book Team</a:t>
            </a:r>
            <a:endParaRPr lang="ar-EG" altLang="en-US" sz="175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80190" y="5468422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Realese, </a:t>
            </a:r>
            <a:r>
              <a:rPr lang="en-US" alt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6969" y="406122"/>
            <a:ext cx="3750231" cy="4616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Vision &amp; Goal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16969" y="1222058"/>
            <a:ext cx="7315914" cy="4726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vision is to create a comprehensive digital library platform that seamlessly connects booksellers (libraries) and readers worldwide.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6969" y="1860828"/>
            <a:ext cx="7315914" cy="1161574"/>
          </a:xfrm>
          <a:prstGeom prst="roundRect">
            <a:avLst>
              <a:gd name="adj" fmla="val 3052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2227" y="2016085"/>
            <a:ext cx="1846421" cy="2307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 Objective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72227" y="2394466"/>
            <a:ext cx="7005399" cy="4726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provide an intuitive, scalable, and secure system for managing, selling, and lending both digital and physical books.</a:t>
            </a:r>
            <a:endParaRPr lang="en-US" sz="11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0787" y="1255276"/>
            <a:ext cx="5920145" cy="59201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6969" y="7562969"/>
            <a:ext cx="2215634" cy="2769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Audience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16969" y="8209002"/>
            <a:ext cx="1846421" cy="2307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Vendors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16969" y="8587383"/>
            <a:ext cx="6618089" cy="2363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Libraries, publishing houses, and booksellers seeking an efficient management solution.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502962" y="8209002"/>
            <a:ext cx="1846421" cy="2307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502962" y="8587383"/>
            <a:ext cx="6618089" cy="2363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Readers, students, and educational institutions looking for diverse content and easy access.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9617"/>
            <a:ext cx="8006596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Features: For Customers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12025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platform offers a rich set of functionalities designed to enhance the reading experience and streamline access to books.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92981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74344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Account Access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233863"/>
            <a:ext cx="41586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Effortlessly log in or create a new account to manage your profile.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892981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374344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Advanced Search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35893" y="4233863"/>
            <a:ext cx="41586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books quickly with powerful search capabilities and filters.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892981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374344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Purchase Options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7995" y="4233863"/>
            <a:ext cx="41586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Securely purchase electronic (PDF) or physical book copies.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413296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93790" y="626375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 Lending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93790" y="6754177"/>
            <a:ext cx="41586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Borrow digital books for a limited duration, perfect for casual reading.</a:t>
            </a:r>
            <a:endParaRPr lang="en-US" sz="17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893" y="5413296"/>
            <a:ext cx="566976" cy="5669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35893" y="626375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Personal Dashboard</a:t>
            </a:r>
            <a:endParaRPr lang="en-US" sz="2200" dirty="0"/>
          </a:p>
        </p:txBody>
      </p:sp>
      <p:sp>
        <p:nvSpPr>
          <p:cNvPr id="18" name="Text 11"/>
          <p:cNvSpPr/>
          <p:nvPr/>
        </p:nvSpPr>
        <p:spPr>
          <a:xfrm>
            <a:off x="5235893" y="6754177"/>
            <a:ext cx="41586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all your orders, borrowed items, and activity in one centralized place.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1069"/>
            <a:ext cx="7296269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Features: For Vendors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93476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empower libraries and publishers with robust tools to manage their inventory, sales, and user interactions efficiently.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711529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561993"/>
            <a:ext cx="325564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Registration &amp; Approval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052411"/>
            <a:ext cx="6379607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Streamlined system for vendors to register and gain manager approval.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884" y="2711529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6884" y="356199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Book Management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56884" y="4052411"/>
            <a:ext cx="637972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control panel to add, edit, and delete book entries.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231844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608230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Detailed Reporting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93790" y="6572726"/>
            <a:ext cx="6379607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in-depth reports on sales and lending activities for informed decisions.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5231844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6884" y="6082308"/>
            <a:ext cx="3489841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Order &amp; Finance Tracking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456884" y="6572726"/>
            <a:ext cx="637972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customer orders and monitor financial performance seamlessly.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613" y="557570"/>
            <a:ext cx="5069205" cy="6336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Journey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9613" y="1596747"/>
            <a:ext cx="13211175" cy="3243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a fluid and intuitive path from discovery to enjoying your chosen books.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09613" y="2149078"/>
            <a:ext cx="202763" cy="2533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09613" y="2470666"/>
            <a:ext cx="6504146" cy="22860"/>
          </a:xfrm>
          <a:prstGeom prst="rect">
            <a:avLst/>
          </a:prstGeom>
          <a:solidFill>
            <a:srgbClr val="4950BC"/>
          </a:solidFill>
        </p:spPr>
      </p:sp>
      <p:sp>
        <p:nvSpPr>
          <p:cNvPr id="6" name="Text 4"/>
          <p:cNvSpPr/>
          <p:nvPr/>
        </p:nvSpPr>
        <p:spPr>
          <a:xfrm>
            <a:off x="709613" y="2617708"/>
            <a:ext cx="2534603" cy="3168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Register / Login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09613" y="3056096"/>
            <a:ext cx="6504146" cy="6486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Begin by creating a new account or logging into your existing profile.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416522" y="2149078"/>
            <a:ext cx="202763" cy="2533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16522" y="2470666"/>
            <a:ext cx="6504265" cy="22860"/>
          </a:xfrm>
          <a:prstGeom prst="rect">
            <a:avLst/>
          </a:prstGeom>
          <a:solidFill>
            <a:srgbClr val="4950BC"/>
          </a:solidFill>
        </p:spPr>
      </p:sp>
      <p:sp>
        <p:nvSpPr>
          <p:cNvPr id="10" name="Text 8"/>
          <p:cNvSpPr/>
          <p:nvPr/>
        </p:nvSpPr>
        <p:spPr>
          <a:xfrm>
            <a:off x="7416522" y="2617708"/>
            <a:ext cx="2534603" cy="3168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Search &amp; Discover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16522" y="3056096"/>
            <a:ext cx="6504265" cy="6486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our vast collection using advanced search and browsing tools.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09613" y="4059555"/>
            <a:ext cx="202763" cy="2533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09613" y="4381143"/>
            <a:ext cx="6504146" cy="22860"/>
          </a:xfrm>
          <a:prstGeom prst="rect">
            <a:avLst/>
          </a:prstGeom>
          <a:solidFill>
            <a:srgbClr val="4950BC"/>
          </a:solidFill>
        </p:spPr>
      </p:sp>
      <p:sp>
        <p:nvSpPr>
          <p:cNvPr id="14" name="Text 12"/>
          <p:cNvSpPr/>
          <p:nvPr/>
        </p:nvSpPr>
        <p:spPr>
          <a:xfrm>
            <a:off x="709613" y="4528185"/>
            <a:ext cx="2534603" cy="3168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Buy or Borrow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09613" y="4966573"/>
            <a:ext cx="6504146" cy="6486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selected books to your cart, choosing between purchase or digital borrowing.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416522" y="4059555"/>
            <a:ext cx="202763" cy="2533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416522" y="4381143"/>
            <a:ext cx="6504265" cy="22860"/>
          </a:xfrm>
          <a:prstGeom prst="rect">
            <a:avLst/>
          </a:prstGeom>
          <a:solidFill>
            <a:srgbClr val="4950BC"/>
          </a:solidFill>
        </p:spPr>
      </p:sp>
      <p:sp>
        <p:nvSpPr>
          <p:cNvPr id="18" name="Text 16"/>
          <p:cNvSpPr/>
          <p:nvPr/>
        </p:nvSpPr>
        <p:spPr>
          <a:xfrm>
            <a:off x="7416522" y="4528185"/>
            <a:ext cx="2534603" cy="3168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Checkout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416522" y="4966573"/>
            <a:ext cx="6504265" cy="6486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your transaction securely through our integrated payment process.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09613" y="5970032"/>
            <a:ext cx="202763" cy="2533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09613" y="6291620"/>
            <a:ext cx="6504146" cy="22860"/>
          </a:xfrm>
          <a:prstGeom prst="rect">
            <a:avLst/>
          </a:prstGeom>
          <a:solidFill>
            <a:srgbClr val="4950BC"/>
          </a:solidFill>
        </p:spPr>
      </p:sp>
      <p:sp>
        <p:nvSpPr>
          <p:cNvPr id="22" name="Text 20"/>
          <p:cNvSpPr/>
          <p:nvPr/>
        </p:nvSpPr>
        <p:spPr>
          <a:xfrm>
            <a:off x="709613" y="6438662"/>
            <a:ext cx="2534603" cy="3168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09613" y="6877050"/>
            <a:ext cx="6504146" cy="6486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Instantly download your eBook or track the shipment of your physical copy.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416522" y="5970032"/>
            <a:ext cx="202763" cy="2533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7416522" y="6291620"/>
            <a:ext cx="6504265" cy="22860"/>
          </a:xfrm>
          <a:prstGeom prst="rect">
            <a:avLst/>
          </a:prstGeom>
          <a:solidFill>
            <a:srgbClr val="4950BC"/>
          </a:solidFill>
        </p:spPr>
      </p:sp>
      <p:sp>
        <p:nvSpPr>
          <p:cNvPr id="26" name="Text 24"/>
          <p:cNvSpPr/>
          <p:nvPr/>
        </p:nvSpPr>
        <p:spPr>
          <a:xfrm>
            <a:off x="7416522" y="6438662"/>
            <a:ext cx="2534603" cy="3168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7416522" y="6877050"/>
            <a:ext cx="6504265" cy="6486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your requests, borrowed items, and track order statuses from your personalized dashboard.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5914" y="567333"/>
            <a:ext cx="7852172" cy="11532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Deep Dive: The Architecture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5914" y="1997393"/>
            <a:ext cx="7852172" cy="590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digital library system is meticulously engineered using a </a:t>
            </a: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Architecture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approach, ensuring a robust, flexible, and future-proof foundation.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45914" y="2864763"/>
            <a:ext cx="3381970" cy="3459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Clean Architecture?</a:t>
            </a:r>
            <a:endParaRPr lang="en-US" sz="2150" dirty="0"/>
          </a:p>
        </p:txBody>
      </p:sp>
      <p:sp>
        <p:nvSpPr>
          <p:cNvPr id="6" name="Shape 3"/>
          <p:cNvSpPr/>
          <p:nvPr/>
        </p:nvSpPr>
        <p:spPr>
          <a:xfrm>
            <a:off x="645914" y="3487579"/>
            <a:ext cx="3833812" cy="199501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3054" y="3487579"/>
            <a:ext cx="91440" cy="1995011"/>
          </a:xfrm>
          <a:prstGeom prst="roundRect">
            <a:avLst>
              <a:gd name="adj" fmla="val 84771"/>
            </a:avLst>
          </a:prstGeom>
          <a:solidFill>
            <a:srgbClr val="4950BC"/>
          </a:solidFill>
        </p:spPr>
      </p:sp>
      <p:sp>
        <p:nvSpPr>
          <p:cNvPr id="8" name="Text 5"/>
          <p:cNvSpPr/>
          <p:nvPr/>
        </p:nvSpPr>
        <p:spPr>
          <a:xfrm>
            <a:off x="921901" y="3694986"/>
            <a:ext cx="2666048" cy="2883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Separation of Concerns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21901" y="4094083"/>
            <a:ext cx="3350419" cy="885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component has a single, well-defined responsibility, preventing tangled codebases.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664273" y="3487579"/>
            <a:ext cx="3833812" cy="199501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41413" y="3487579"/>
            <a:ext cx="91440" cy="1995011"/>
          </a:xfrm>
          <a:prstGeom prst="roundRect">
            <a:avLst>
              <a:gd name="adj" fmla="val 84771"/>
            </a:avLst>
          </a:prstGeom>
          <a:solidFill>
            <a:srgbClr val="4950BC"/>
          </a:solidFill>
        </p:spPr>
      </p:sp>
      <p:sp>
        <p:nvSpPr>
          <p:cNvPr id="12" name="Text 9"/>
          <p:cNvSpPr/>
          <p:nvPr/>
        </p:nvSpPr>
        <p:spPr>
          <a:xfrm>
            <a:off x="4940260" y="3694986"/>
            <a:ext cx="2853333" cy="2883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Enhanced Maintainability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940260" y="4094083"/>
            <a:ext cx="3350419" cy="1181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Modifications in one part of the system have minimal impact on others, simplifying updates and bug fixes.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45914" y="5667137"/>
            <a:ext cx="3833812" cy="199501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3054" y="5667137"/>
            <a:ext cx="91440" cy="1995011"/>
          </a:xfrm>
          <a:prstGeom prst="roundRect">
            <a:avLst>
              <a:gd name="adj" fmla="val 84771"/>
            </a:avLst>
          </a:prstGeom>
          <a:solidFill>
            <a:srgbClr val="4950BC"/>
          </a:solidFill>
        </p:spPr>
      </p:sp>
      <p:sp>
        <p:nvSpPr>
          <p:cNvPr id="16" name="Text 13"/>
          <p:cNvSpPr/>
          <p:nvPr/>
        </p:nvSpPr>
        <p:spPr>
          <a:xfrm>
            <a:off x="921901" y="5874544"/>
            <a:ext cx="2306955" cy="2883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Improved Testability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21901" y="6273641"/>
            <a:ext cx="3350419" cy="1181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logic can be tested independently of external dependencies like databases or UI, ensuring high quality.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4959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9945" y="584240"/>
            <a:ext cx="7656909" cy="13277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Three-Layer Architecture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6229945" y="2230636"/>
            <a:ext cx="7656909" cy="6796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principle of Clean Architecture is the Dependency Rule: all dependencies point inwards.</a:t>
            </a:r>
            <a:endParaRPr lang="en-US" sz="1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945" y="3149203"/>
            <a:ext cx="7656909" cy="35041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38652" y="3593330"/>
            <a:ext cx="1693778" cy="2117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Digital-Library.Web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1838652" y="3865276"/>
            <a:ext cx="1866920" cy="3387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UI, controllers, request handling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6411037" y="4533377"/>
            <a:ext cx="1716361" cy="6351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Digital-Library.Infrastructure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411037" y="5228766"/>
            <a:ext cx="1716361" cy="3387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access, external services, adapters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1838652" y="5339803"/>
            <a:ext cx="1693778" cy="2117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Digital-Library.Core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838652" y="5611749"/>
            <a:ext cx="1866920" cy="3387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rules and domain models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229945" y="6892290"/>
            <a:ext cx="7656909" cy="10194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 Rule: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Outer layers know about inner layers, but inner layers remain completely unaware of the outside world. This crucial rule promotes isolation and flexibility.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546877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Deep Dive: Core &amp; Infrastructure Layers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949523"/>
            <a:ext cx="3237309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Layer 1: The Core (Digital-Library.Core)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35" y="1289685"/>
            <a:ext cx="6780014" cy="67800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6835" y="8197215"/>
            <a:ext cx="6780014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heart of the application, containing the foundational business rules and entities.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96835" y="8492014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Components: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96835" y="8782526"/>
            <a:ext cx="6780014" cy="1890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Models: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Fundamental entities like </a:t>
            </a:r>
            <a:r>
              <a:rPr lang="en-US" sz="850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850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Book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850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Vendor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96835" y="9011245"/>
            <a:ext cx="6780014" cy="1890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Enums: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Enumerations such as </a:t>
            </a:r>
            <a:r>
              <a:rPr lang="en-US" sz="850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VendorStatus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96835" y="9239964"/>
            <a:ext cx="6780014" cy="1890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Interfaces (Contracts):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Define expected behaviors for services (e.g., </a:t>
            </a:r>
            <a:r>
              <a:rPr lang="en-US" sz="850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IAuthService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850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IEmailSender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6835" y="9556552"/>
            <a:ext cx="6780014" cy="663297"/>
          </a:xfrm>
          <a:prstGeom prst="roundRect">
            <a:avLst>
              <a:gd name="adj" fmla="val 7181"/>
            </a:avLst>
          </a:prstGeom>
          <a:solidFill>
            <a:srgbClr val="B6D6FC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83" y="9720977"/>
            <a:ext cx="141684" cy="1133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5215" y="9698236"/>
            <a:ext cx="6298287" cy="362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Crucial Feature:</a:t>
            </a: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layer has </a:t>
            </a: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external dependencies</a:t>
            </a: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making it independent of specific databases or UI technologies.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7461171" y="949523"/>
            <a:ext cx="4793575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Layer 2: The Infrastructure (Digital-Library.Infrastructure)</a:t>
            </a:r>
            <a:endParaRPr lang="en-US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171" y="1289685"/>
            <a:ext cx="6780014" cy="678001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61171" y="8197215"/>
            <a:ext cx="6780014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Implements technical details and handles interactions with external services and data storage.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7461171" y="8492014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Components: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461171" y="8782526"/>
            <a:ext cx="6780014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DbContext: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Connects to the database using Entity Framework Core.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7461171" y="9003625"/>
            <a:ext cx="6780014" cy="1890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Services: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Provide concrete implementations of interfaces defined in the Core, like an </a:t>
            </a:r>
            <a:r>
              <a:rPr lang="en-US" sz="850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EmailSender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7461171" y="9320213"/>
            <a:ext cx="6780014" cy="663297"/>
          </a:xfrm>
          <a:prstGeom prst="roundRect">
            <a:avLst>
              <a:gd name="adj" fmla="val 7181"/>
            </a:avLst>
          </a:prstGeom>
          <a:solidFill>
            <a:srgbClr val="B6D6FC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518" y="9484638"/>
            <a:ext cx="141684" cy="1133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829550" y="9461897"/>
            <a:ext cx="6298287" cy="362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Crucial Feature:</a:t>
            </a: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Technical details are isolated here. Changing databases or external services only requires modifying this layer.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5836206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Deep Dive: Web Layer &amp; Technology Stack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949523"/>
            <a:ext cx="3241119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Layer 3: The Web (Digital-Library.Web)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35" y="1289685"/>
            <a:ext cx="6780014" cy="67800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6835" y="8197215"/>
            <a:ext cx="6780014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presentation layer, responsible for user interaction and displaying information.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96835" y="8492014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Components: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96835" y="8782526"/>
            <a:ext cx="6780014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Controllers: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Receive user requests and orchestrate calls to business services (kept "thin").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96835" y="9003625"/>
            <a:ext cx="6780014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Views: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Dynamic HTML pages powered by Razor and styled with Tailwind CSS.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96835" y="9224724"/>
            <a:ext cx="6780014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ViewModels: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Interface-specific models ensuring security and data separation.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96835" y="9445823"/>
            <a:ext cx="6780014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Program.cs: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application's entry point, stitching all layers together using </a:t>
            </a: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 Injection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461171" y="949523"/>
            <a:ext cx="1701165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61171" y="1275517"/>
            <a:ext cx="6780014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Leveraging modern, robust technologies to build a high-performance and scalable application.</a:t>
            </a:r>
            <a:endParaRPr lang="en-US" sz="8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825" y="1670328"/>
            <a:ext cx="566976" cy="453628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4527" y="1670328"/>
            <a:ext cx="566976" cy="453628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2228" y="1670328"/>
            <a:ext cx="566976" cy="453628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9929" y="1670328"/>
            <a:ext cx="566976" cy="453628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7630" y="1670328"/>
            <a:ext cx="566976" cy="453628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25332" y="1670328"/>
            <a:ext cx="566976" cy="453628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3033" y="1670328"/>
            <a:ext cx="566976" cy="453628"/>
          </a:xfrm>
          <a:prstGeom prst="rect">
            <a:avLst/>
          </a:prstGeom>
        </p:spPr>
      </p:pic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40734" y="1670328"/>
            <a:ext cx="566976" cy="453628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98435" y="1670328"/>
            <a:ext cx="566976" cy="453628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7461171" y="2235279"/>
            <a:ext cx="6780014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Backend: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ASP.NET Core 8, C#, Entity Framework Core, ASP.NET Core Identity.</a:t>
            </a:r>
            <a:endParaRPr lang="en-US" sz="850" dirty="0"/>
          </a:p>
        </p:txBody>
      </p:sp>
      <p:sp>
        <p:nvSpPr>
          <p:cNvPr id="23" name="Text 11"/>
          <p:cNvSpPr/>
          <p:nvPr/>
        </p:nvSpPr>
        <p:spPr>
          <a:xfrm>
            <a:off x="7461171" y="2456378"/>
            <a:ext cx="6780014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Frontend: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HTML5, Tailwind CSS, JavaScript, jQuery, Chart.js.</a:t>
            </a:r>
            <a:endParaRPr lang="en-US" sz="850" dirty="0"/>
          </a:p>
        </p:txBody>
      </p:sp>
      <p:sp>
        <p:nvSpPr>
          <p:cNvPr id="24" name="Text 12"/>
          <p:cNvSpPr/>
          <p:nvPr/>
        </p:nvSpPr>
        <p:spPr>
          <a:xfrm>
            <a:off x="7461171" y="2677478"/>
            <a:ext cx="6780014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Database: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SQL Server (flexible for other EF Core-supported databases).</a:t>
            </a:r>
            <a:endParaRPr lang="en-US" sz="850" dirty="0"/>
          </a:p>
        </p:txBody>
      </p:sp>
      <p:sp>
        <p:nvSpPr>
          <p:cNvPr id="25" name="Text 13"/>
          <p:cNvSpPr/>
          <p:nvPr/>
        </p:nvSpPr>
        <p:spPr>
          <a:xfrm>
            <a:off x="7461171" y="2898577"/>
            <a:ext cx="6780014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Architecture: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Clean Architecture, Dependency Injection.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8290" y="478036"/>
            <a:ext cx="7533323" cy="5431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Enhancements &amp; Conclusion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8290" y="1368743"/>
            <a:ext cx="13413819" cy="278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commitment to continuous improvement means exciting features are on the horizon for the Digital Library System.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08290" y="1842373"/>
            <a:ext cx="695206" cy="1042868"/>
          </a:xfrm>
          <a:prstGeom prst="roundRect">
            <a:avLst>
              <a:gd name="adj" fmla="val 36002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5579" y="2200870"/>
            <a:ext cx="260628" cy="3258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477208" y="2016085"/>
            <a:ext cx="2172653" cy="2715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Subscription Model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77208" y="2391847"/>
            <a:ext cx="12544901" cy="278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 monthly subscription tiers for unlimited book access.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8290" y="3058954"/>
            <a:ext cx="695206" cy="1042868"/>
          </a:xfrm>
          <a:prstGeom prst="roundRect">
            <a:avLst>
              <a:gd name="adj" fmla="val 36002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5579" y="3417451"/>
            <a:ext cx="260628" cy="3258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1477208" y="3232666"/>
            <a:ext cx="2257187" cy="2715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Recommendations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77208" y="3608427"/>
            <a:ext cx="12544901" cy="278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intelligent book suggestions based on user reading history.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8290" y="4275534"/>
            <a:ext cx="695206" cy="1042868"/>
          </a:xfrm>
          <a:prstGeom prst="roundRect">
            <a:avLst>
              <a:gd name="adj" fmla="val 36002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579" y="4634032"/>
            <a:ext cx="260628" cy="3258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1477208" y="4449247"/>
            <a:ext cx="2596753" cy="2715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Multi-Language Support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77208" y="4825008"/>
            <a:ext cx="12544901" cy="278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accessibility to a global audience with multiple language options.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8290" y="5492115"/>
            <a:ext cx="695206" cy="1042868"/>
          </a:xfrm>
          <a:prstGeom prst="roundRect">
            <a:avLst>
              <a:gd name="adj" fmla="val 36002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5579" y="5850612"/>
            <a:ext cx="260628" cy="3258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1477208" y="5665827"/>
            <a:ext cx="2346246" cy="2715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Institutional Packages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77208" y="6041588"/>
            <a:ext cx="12544901" cy="278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specialized plans tailored for schools and universities.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08290" y="6708696"/>
            <a:ext cx="695206" cy="1042868"/>
          </a:xfrm>
          <a:prstGeom prst="roundRect">
            <a:avLst>
              <a:gd name="adj" fmla="val 36002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579" y="7067193"/>
            <a:ext cx="260628" cy="3258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1477208" y="6882408"/>
            <a:ext cx="2172653" cy="2715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Robust Testing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77208" y="7258169"/>
            <a:ext cx="12544901" cy="278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Strengthen code quality with comprehensive Unit &amp; Integration Tests.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04993"/>
            <a:ext cx="4536519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133951" y="4080748"/>
            <a:ext cx="1270265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have successfully established a robust foundation for a modern digital library, leveraging cutting-edge technologies and a resilient Clean Architecture. This project stands as a testament to building professionally organized, full-stack web applications that are both scalable and maintainable for long-term success.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825597"/>
            <a:ext cx="30480" cy="1599009"/>
          </a:xfrm>
          <a:prstGeom prst="rect">
            <a:avLst/>
          </a:prstGeom>
          <a:solidFill>
            <a:srgbClr val="4950BC"/>
          </a:solid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625691"/>
            <a:ext cx="7825502" cy="9782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 All!</a:t>
            </a:r>
            <a:endParaRPr lang="en-US" sz="6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6200</Words>
  <Application>WPS Presentation</Application>
  <PresentationFormat>On-screen Show (16:9)</PresentationFormat>
  <Paragraphs>242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3" baseType="lpstr">
      <vt:lpstr>Arial</vt:lpstr>
      <vt:lpstr>SimSun</vt:lpstr>
      <vt:lpstr>Wingdings</vt:lpstr>
      <vt:lpstr>Inter Bold</vt:lpstr>
      <vt:lpstr>Segoe Print</vt:lpstr>
      <vt:lpstr>Inter Bold</vt:lpstr>
      <vt:lpstr>Inter Bold</vt:lpstr>
      <vt:lpstr>Inter</vt:lpstr>
      <vt:lpstr>Inter</vt:lpstr>
      <vt:lpstr>Inter</vt:lpstr>
      <vt:lpstr>Inter Light</vt:lpstr>
      <vt:lpstr>Inter Light</vt:lpstr>
      <vt:lpstr>Inter Light</vt:lpstr>
      <vt:lpstr>Consolas</vt:lpstr>
      <vt:lpstr>Consolas</vt:lpstr>
      <vt:lpstr>Consolas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Yousef Elsharkawy</cp:lastModifiedBy>
  <cp:revision>3</cp:revision>
  <dcterms:created xsi:type="dcterms:W3CDTF">2025-09-09T21:47:00Z</dcterms:created>
  <dcterms:modified xsi:type="dcterms:W3CDTF">2025-09-16T14:09:44Z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3711FBBBF70243E1958203C6646AE090_12</vt:lpwstr>
  </property>
  <property fmtid="{D5CDD505-2E9C-101B-9397-08002B2CF9AE}" pid="3" name="KSOProductBuildVer">
    <vt:lpwstr>1033-12.2.0.21931</vt:lpwstr>
  </property>
</Properties>
</file>